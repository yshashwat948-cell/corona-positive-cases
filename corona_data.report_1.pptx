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6" r:id="rId9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263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54542" y="4290487"/>
            <a:ext cx="3079115" cy="675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Data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Analytics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Project</a:t>
            </a:r>
            <a:endParaRPr sz="20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35"/>
              </a:spcBef>
            </a:pPr>
            <a:r>
              <a:rPr sz="1400" dirty="0">
                <a:latin typeface="Arial MT"/>
                <a:cs typeface="Arial MT"/>
              </a:rPr>
              <a:t>Corona Positive Cases</a:t>
            </a:r>
            <a:r>
              <a:rPr lang="en-IN" sz="1400" dirty="0">
                <a:latin typeface="Arial MT"/>
                <a:cs typeface="Arial MT"/>
              </a:rPr>
              <a:t> -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1026" name="Picture 2" descr="SRMU-Shri Ramswaroop Memorial University">
            <a:extLst>
              <a:ext uri="{FF2B5EF4-FFF2-40B4-BE49-F238E27FC236}">
                <a16:creationId xmlns:a16="http://schemas.microsoft.com/office/drawing/2014/main" id="{8A85CA9A-95F4-697D-2FFE-A60258910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650" y="241301"/>
            <a:ext cx="2247900" cy="222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4BDED3-5275-A66B-9994-A83706194A9E}"/>
              </a:ext>
            </a:extLst>
          </p:cNvPr>
          <p:cNvSpPr txBox="1"/>
          <p:nvPr/>
        </p:nvSpPr>
        <p:spPr>
          <a:xfrm>
            <a:off x="1035050" y="2624198"/>
            <a:ext cx="6019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Shri Ramswaroop Memorial  </a:t>
            </a:r>
          </a:p>
          <a:p>
            <a:r>
              <a:rPr lang="en-IN" sz="3200" dirty="0"/>
              <a:t>              University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004D15-DAF7-F4ED-E60E-71E6860E89A3}"/>
              </a:ext>
            </a:extLst>
          </p:cNvPr>
          <p:cNvSpPr txBox="1"/>
          <p:nvPr/>
        </p:nvSpPr>
        <p:spPr>
          <a:xfrm>
            <a:off x="4171950" y="6794500"/>
            <a:ext cx="3352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Name- </a:t>
            </a:r>
            <a:r>
              <a:rPr lang="en-IN" sz="1600" dirty="0" err="1"/>
              <a:t>Shashwat</a:t>
            </a:r>
            <a:r>
              <a:rPr lang="en-IN" sz="1600" dirty="0"/>
              <a:t> yadav</a:t>
            </a:r>
          </a:p>
          <a:p>
            <a:r>
              <a:rPr lang="en-IN" sz="1600" dirty="0"/>
              <a:t>Roll no.- 202410101150166</a:t>
            </a:r>
          </a:p>
          <a:p>
            <a:r>
              <a:rPr lang="en-IN" sz="1600" dirty="0"/>
              <a:t>Course – </a:t>
            </a:r>
            <a:r>
              <a:rPr lang="en-IN" sz="1600" dirty="0" err="1"/>
              <a:t>B.tech</a:t>
            </a:r>
            <a:r>
              <a:rPr lang="en-IN" sz="1600" dirty="0"/>
              <a:t> CSE(DS+AI)</a:t>
            </a:r>
          </a:p>
          <a:p>
            <a:r>
              <a:rPr lang="en-IN" sz="1600" dirty="0"/>
              <a:t>Group - 36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7B4AF1-7791-E58C-188A-04D6AB2C71AE}"/>
              </a:ext>
            </a:extLst>
          </p:cNvPr>
          <p:cNvSpPr txBox="1"/>
          <p:nvPr/>
        </p:nvSpPr>
        <p:spPr>
          <a:xfrm>
            <a:off x="212090" y="7871718"/>
            <a:ext cx="3549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Submitted to – Mrs. Dipika Tiwari 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7850" y="1231900"/>
            <a:ext cx="6804751" cy="51142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Arial"/>
                <a:cs typeface="Arial"/>
              </a:rPr>
              <a:t>1.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Introduction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&amp;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Objectives</a:t>
            </a:r>
            <a:endParaRPr lang="en-IN" sz="3200" b="1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32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555"/>
              </a:spcBef>
            </a:pPr>
            <a:r>
              <a:rPr sz="2000" dirty="0">
                <a:latin typeface="Arial MT"/>
                <a:cs typeface="Arial MT"/>
              </a:rPr>
              <a:t>Introduction: This report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analyses a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dataset of corona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positive cases.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 goal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 to present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 </a:t>
            </a:r>
            <a:r>
              <a:rPr sz="2000" spc="-10" dirty="0">
                <a:latin typeface="Arial MT"/>
                <a:cs typeface="Arial MT"/>
              </a:rPr>
              <a:t>cleaning, </a:t>
            </a:r>
            <a:r>
              <a:rPr sz="2000" dirty="0">
                <a:latin typeface="Arial MT"/>
                <a:cs typeface="Arial MT"/>
              </a:rPr>
              <a:t>exploratory data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analysis,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visualizations,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findings in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concise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project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format.</a:t>
            </a:r>
            <a:endParaRPr lang="en-IN" sz="2000" spc="-1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1555"/>
              </a:spcBef>
            </a:pPr>
            <a:endParaRPr sz="2000" dirty="0">
              <a:latin typeface="Arial MT"/>
              <a:cs typeface="Arial MT"/>
            </a:endParaRPr>
          </a:p>
          <a:p>
            <a:pPr marL="12700" marR="14605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Objectives: </a:t>
            </a:r>
            <a:endParaRPr lang="en-IN" sz="2000" dirty="0">
              <a:latin typeface="Arial MT"/>
              <a:cs typeface="Arial MT"/>
            </a:endParaRPr>
          </a:p>
          <a:p>
            <a:pPr marL="12700" marR="14605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1)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Understand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dataset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 data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quality.</a:t>
            </a:r>
            <a:r>
              <a:rPr sz="2000" spc="5" dirty="0">
                <a:latin typeface="Arial MT"/>
                <a:cs typeface="Arial MT"/>
              </a:rPr>
              <a:t> </a:t>
            </a:r>
            <a:endParaRPr lang="en-IN" sz="2000" spc="5" dirty="0">
              <a:latin typeface="Arial MT"/>
              <a:cs typeface="Arial MT"/>
            </a:endParaRPr>
          </a:p>
          <a:p>
            <a:pPr marL="12700" marR="14605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2)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Provide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descriptive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statistics of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key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attributes </a:t>
            </a:r>
            <a:r>
              <a:rPr sz="2000" dirty="0">
                <a:latin typeface="Arial MT"/>
                <a:cs typeface="Arial MT"/>
              </a:rPr>
              <a:t>like age,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gender,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 location.</a:t>
            </a:r>
            <a:r>
              <a:rPr sz="2000" spc="5" dirty="0">
                <a:latin typeface="Arial MT"/>
                <a:cs typeface="Arial MT"/>
              </a:rPr>
              <a:t> </a:t>
            </a:r>
            <a:endParaRPr lang="en-IN" sz="2000" spc="5" dirty="0">
              <a:latin typeface="Arial MT"/>
              <a:cs typeface="Arial MT"/>
            </a:endParaRPr>
          </a:p>
          <a:p>
            <a:pPr marL="12700" marR="14605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3)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Visualize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distributions and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trends.</a:t>
            </a:r>
            <a:r>
              <a:rPr sz="2000" spc="5" dirty="0">
                <a:latin typeface="Arial MT"/>
                <a:cs typeface="Arial MT"/>
              </a:rPr>
              <a:t> </a:t>
            </a:r>
            <a:endParaRPr lang="en-IN" sz="2000" spc="5" dirty="0">
              <a:latin typeface="Arial MT"/>
              <a:cs typeface="Arial MT"/>
            </a:endParaRPr>
          </a:p>
          <a:p>
            <a:pPr marL="12700" marR="14605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4)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Document code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snippets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 </a:t>
            </a:r>
            <a:r>
              <a:rPr sz="2000" dirty="0">
                <a:latin typeface="Arial MT"/>
                <a:cs typeface="Arial MT"/>
              </a:rPr>
              <a:t>methodology used for </a:t>
            </a:r>
            <a:r>
              <a:rPr sz="2000" spc="-10" dirty="0">
                <a:latin typeface="Arial MT"/>
                <a:cs typeface="Arial MT"/>
              </a:rPr>
              <a:t>reproducibility.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7299" y="529499"/>
            <a:ext cx="6385560" cy="23237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2.</a:t>
            </a:r>
            <a:r>
              <a:rPr sz="2400" b="1" spc="-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Data</a:t>
            </a:r>
            <a:r>
              <a:rPr sz="2400" b="1" spc="-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Description &amp;</a:t>
            </a:r>
            <a:r>
              <a:rPr sz="2400" b="1" spc="-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Cleaning</a:t>
            </a:r>
            <a:endParaRPr lang="en-IN" sz="2400" b="1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600" dirty="0">
              <a:latin typeface="Arial"/>
              <a:cs typeface="Arial"/>
            </a:endParaRPr>
          </a:p>
          <a:p>
            <a:pPr marL="12700" marR="279400">
              <a:lnSpc>
                <a:spcPct val="100000"/>
              </a:lnSpc>
              <a:spcBef>
                <a:spcPts val="1555"/>
              </a:spcBef>
            </a:pPr>
            <a:r>
              <a:rPr sz="1600" dirty="0">
                <a:latin typeface="Arial MT"/>
                <a:cs typeface="Arial MT"/>
              </a:rPr>
              <a:t>Data description: The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dataset contains 1000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rows and 9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columns. A preview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 the first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columns: name, </a:t>
            </a:r>
            <a:r>
              <a:rPr sz="1600" spc="-20" dirty="0">
                <a:latin typeface="Arial MT"/>
                <a:cs typeface="Arial MT"/>
              </a:rPr>
              <a:t>age, </a:t>
            </a:r>
            <a:r>
              <a:rPr sz="1600" dirty="0">
                <a:latin typeface="Arial MT"/>
                <a:cs typeface="Arial MT"/>
              </a:rPr>
              <a:t>gender, city, corona_status, has_name, has_age, has_gender, </a:t>
            </a:r>
            <a:r>
              <a:rPr sz="1600" spc="-10" dirty="0">
                <a:latin typeface="Arial MT"/>
                <a:cs typeface="Arial MT"/>
              </a:rPr>
              <a:t>has_city.</a:t>
            </a:r>
            <a:endParaRPr sz="16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600" dirty="0">
                <a:latin typeface="Arial MT"/>
                <a:cs typeface="Arial MT"/>
              </a:rPr>
              <a:t>Cleaning steps applied: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Standardized column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names, coerced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'age' to numeric,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normalized gender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labels, </a:t>
            </a:r>
            <a:r>
              <a:rPr sz="1600" spc="-10" dirty="0">
                <a:latin typeface="Arial MT"/>
                <a:cs typeface="Arial MT"/>
              </a:rPr>
              <a:t>parsed </a:t>
            </a:r>
            <a:r>
              <a:rPr sz="1600" dirty="0">
                <a:latin typeface="Arial MT"/>
                <a:cs typeface="Arial MT"/>
              </a:rPr>
              <a:t>date columns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when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present,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created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flags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track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missingness.</a:t>
            </a:r>
            <a:endParaRPr sz="16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610" y="3700584"/>
            <a:ext cx="5323839" cy="195091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16611" y="6390643"/>
            <a:ext cx="280923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Sample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data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(first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10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rows):</a:t>
            </a:r>
            <a:endParaRPr sz="1600" dirty="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414564"/>
              </p:ext>
            </p:extLst>
          </p:nvPr>
        </p:nvGraphicFramePr>
        <p:xfrm>
          <a:off x="816611" y="6642100"/>
          <a:ext cx="5923277" cy="35383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0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7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0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88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24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6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pPr marL="31750">
                        <a:lnSpc>
                          <a:spcPts val="994"/>
                        </a:lnSpc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name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994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age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ts val="994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gender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ts val="994"/>
                        </a:lnSpc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city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994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corona_statushas_name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994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has_age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ts val="994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has_gender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994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has_city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Person_550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7.0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male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Ahmedabad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  <a:tabLst>
                          <a:tab pos="711200" algn="l"/>
                        </a:tabLst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Positive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Person_808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9.0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other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Bangalore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  <a:tabLst>
                          <a:tab pos="711200" algn="l"/>
                        </a:tabLst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Positive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Person_47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76.0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other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Jaipur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  <a:tabLst>
                          <a:tab pos="711200" algn="l"/>
                        </a:tabLst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Positive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Person_667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50.0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male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Pune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  <a:tabLst>
                          <a:tab pos="711200" algn="l"/>
                        </a:tabLst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Positive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Person_820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45.0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male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Mumbai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  <a:tabLst>
                          <a:tab pos="711200" algn="l"/>
                        </a:tabLst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Positive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7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Person_819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46.0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female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Ahmedabad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  <a:tabLst>
                          <a:tab pos="711200" algn="l"/>
                        </a:tabLst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Positive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Person_659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60.0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female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Chennai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  <a:tabLst>
                          <a:tab pos="711200" algn="l"/>
                        </a:tabLst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Positive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Person_926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15.0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female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Ahmedabad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  <a:tabLst>
                          <a:tab pos="711200" algn="l"/>
                        </a:tabLst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Positive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Person_257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75.0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female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Lucknow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  <a:tabLst>
                          <a:tab pos="711200" algn="l"/>
                        </a:tabLst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Positive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31750">
                        <a:lnSpc>
                          <a:spcPts val="990"/>
                        </a:lnSpc>
                        <a:spcBef>
                          <a:spcPts val="1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Person_105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99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59.0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ts val="99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male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ts val="990"/>
                        </a:lnSpc>
                        <a:spcBef>
                          <a:spcPts val="1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Delhi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990"/>
                        </a:lnSpc>
                        <a:spcBef>
                          <a:spcPts val="10"/>
                        </a:spcBef>
                        <a:tabLst>
                          <a:tab pos="711200" algn="l"/>
                        </a:tabLst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Positive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99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ts val="99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99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True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2650" y="1231900"/>
            <a:ext cx="6019800" cy="23237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/>
                <a:cs typeface="Arial"/>
              </a:rPr>
              <a:t>3. Descriptive </a:t>
            </a:r>
            <a:r>
              <a:rPr sz="2800" b="1" spc="-10" dirty="0">
                <a:latin typeface="Arial"/>
                <a:cs typeface="Arial"/>
              </a:rPr>
              <a:t>Statistics</a:t>
            </a:r>
            <a:endParaRPr lang="en-IN" sz="2800" b="1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sz="1600" dirty="0">
                <a:latin typeface="Arial MT"/>
                <a:cs typeface="Arial MT"/>
              </a:rPr>
              <a:t>Age statistics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(count,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mean,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std,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min,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25%,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50%,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75%,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max):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{'count':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1000.0,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'mean':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45.195,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'std':</a:t>
            </a:r>
            <a:endParaRPr sz="16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 MT"/>
                <a:cs typeface="Arial MT"/>
              </a:rPr>
              <a:t>25.230210830243543,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'min':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1.0,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'25%':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24.75,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'50%':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44.0,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'75%':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67.0,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'max':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90.0}</a:t>
            </a:r>
            <a:endParaRPr sz="16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 MT"/>
                <a:cs typeface="Arial MT"/>
              </a:rPr>
              <a:t>Gender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counts: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{'male':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356,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'other':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344,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'female':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300}</a:t>
            </a:r>
            <a:endParaRPr sz="16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5050" y="4813300"/>
            <a:ext cx="5334000" cy="38100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8774" y="1384300"/>
            <a:ext cx="6118951" cy="23237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/>
                <a:cs typeface="Arial"/>
              </a:rPr>
              <a:t>4. Location </a:t>
            </a:r>
            <a:r>
              <a:rPr sz="2800" b="1" spc="-10" dirty="0">
                <a:latin typeface="Arial"/>
                <a:cs typeface="Arial"/>
              </a:rPr>
              <a:t>Analysis</a:t>
            </a:r>
            <a:endParaRPr lang="en-IN" sz="2800" b="1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sz="2000" dirty="0">
                <a:latin typeface="Arial MT"/>
                <a:cs typeface="Arial MT"/>
              </a:rPr>
              <a:t>Top locations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case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count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(top 5):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{'Hyderabad':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121,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'Jaipur':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112,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'Bangalore': 104,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'Kolkata':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99,</a:t>
            </a: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'Delhi': </a:t>
            </a:r>
            <a:r>
              <a:rPr sz="2000" spc="-25" dirty="0">
                <a:latin typeface="Arial MT"/>
                <a:cs typeface="Arial MT"/>
              </a:rPr>
              <a:t>97}</a:t>
            </a: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Arial MT"/>
                <a:cs typeface="Arial MT"/>
              </a:rPr>
              <a:t>City-</a:t>
            </a:r>
            <a:r>
              <a:rPr sz="2000" dirty="0">
                <a:latin typeface="Arial MT"/>
                <a:cs typeface="Arial MT"/>
              </a:rPr>
              <a:t>level distribution is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shown in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 bar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chart.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6450" y="4889500"/>
            <a:ext cx="5867400" cy="31242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7299" y="529499"/>
            <a:ext cx="5483225" cy="3088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b="1" dirty="0">
                <a:latin typeface="Arial"/>
                <a:cs typeface="Arial"/>
              </a:rPr>
              <a:t>5</a:t>
            </a:r>
            <a:r>
              <a:rPr sz="2400" b="1" dirty="0">
                <a:latin typeface="Arial"/>
                <a:cs typeface="Arial"/>
              </a:rPr>
              <a:t>.</a:t>
            </a:r>
            <a:r>
              <a:rPr sz="2400" b="1" spc="-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Segmentation</a:t>
            </a:r>
            <a:r>
              <a:rPr sz="2400" b="1" spc="-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&amp; Advanced</a:t>
            </a:r>
            <a:r>
              <a:rPr sz="2400" b="1" spc="-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Visuals</a:t>
            </a:r>
            <a:endParaRPr lang="en-IN" sz="2400" b="1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2000" b="1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2000" b="1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2000" b="1" spc="-1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555"/>
              </a:spcBef>
            </a:pPr>
            <a:r>
              <a:rPr sz="2000" dirty="0">
                <a:latin typeface="Arial MT"/>
                <a:cs typeface="Arial MT"/>
              </a:rPr>
              <a:t>Segmentation: We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 segment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cases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 age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groups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 locations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 identify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vulnerable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groups. </a:t>
            </a:r>
            <a:r>
              <a:rPr sz="2000" dirty="0">
                <a:latin typeface="Arial MT"/>
                <a:cs typeface="Arial MT"/>
              </a:rPr>
              <a:t>Age-by-city boxplot for top cities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 included below to show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variation in ages across </a:t>
            </a:r>
            <a:r>
              <a:rPr sz="2000" spc="-10" dirty="0">
                <a:latin typeface="Arial MT"/>
                <a:cs typeface="Arial MT"/>
              </a:rPr>
              <a:t>locations.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3650" y="5194300"/>
            <a:ext cx="5334000" cy="26670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8179" y="1003300"/>
            <a:ext cx="6706446" cy="63325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2400" b="1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2400" b="1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b="1" dirty="0">
                <a:latin typeface="Arial"/>
                <a:cs typeface="Arial"/>
              </a:rPr>
              <a:t>6</a:t>
            </a:r>
            <a:r>
              <a:rPr sz="2400" b="1" dirty="0">
                <a:latin typeface="Arial"/>
                <a:cs typeface="Arial"/>
              </a:rPr>
              <a:t>.</a:t>
            </a:r>
            <a:r>
              <a:rPr sz="2400" b="1" spc="-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Findings</a:t>
            </a:r>
            <a:r>
              <a:rPr sz="2400" b="1" spc="-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&amp;</a:t>
            </a:r>
            <a:r>
              <a:rPr sz="2400" b="1" spc="-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Recommendations</a:t>
            </a:r>
            <a:endParaRPr lang="en-IN" sz="2400" b="1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2400" b="1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400" dirty="0">
              <a:latin typeface="Arial"/>
              <a:cs typeface="Arial"/>
            </a:endParaRPr>
          </a:p>
          <a:p>
            <a:pPr marL="12700" marR="95885">
              <a:lnSpc>
                <a:spcPct val="100000"/>
              </a:lnSpc>
              <a:spcBef>
                <a:spcPts val="1555"/>
              </a:spcBef>
            </a:pPr>
            <a:r>
              <a:rPr sz="2000" dirty="0">
                <a:latin typeface="Arial MT"/>
                <a:cs typeface="Arial MT"/>
              </a:rPr>
              <a:t>Findings: The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dataset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shows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basic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distributions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missingness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patterns.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Key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observations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depend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presence </a:t>
            </a:r>
            <a:r>
              <a:rPr sz="2000" dirty="0">
                <a:latin typeface="Arial MT"/>
                <a:cs typeface="Arial MT"/>
              </a:rPr>
              <a:t>of age/gender/city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columns.</a:t>
            </a:r>
            <a:endParaRPr sz="2000" dirty="0">
              <a:latin typeface="Arial MT"/>
              <a:cs typeface="Arial MT"/>
            </a:endParaRPr>
          </a:p>
          <a:p>
            <a:pPr marL="12700" marR="509397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Age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median: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44.0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years.</a:t>
            </a:r>
            <a:endParaRPr sz="2000" dirty="0">
              <a:latin typeface="Arial MT"/>
              <a:cs typeface="Arial MT"/>
            </a:endParaRPr>
          </a:p>
          <a:p>
            <a:pPr marL="12700" marR="509397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Gender majority: </a:t>
            </a:r>
            <a:r>
              <a:rPr sz="2000" spc="-20" dirty="0">
                <a:latin typeface="Arial MT"/>
                <a:cs typeface="Arial MT"/>
              </a:rPr>
              <a:t>male</a:t>
            </a: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City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highest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cases: Hyderabad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(121).</a:t>
            </a:r>
            <a:endParaRPr sz="20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Recommendations: Improve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completeness (reduce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missing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ages/gender/city),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collect comorbidity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severity </a:t>
            </a:r>
            <a:r>
              <a:rPr sz="2000" dirty="0">
                <a:latin typeface="Arial MT"/>
                <a:cs typeface="Arial MT"/>
              </a:rPr>
              <a:t>if possible, and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track dates</a:t>
            </a:r>
            <a:endParaRPr lang="en-IN" sz="20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consistently for time-series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analysis.</a:t>
            </a:r>
            <a:endParaRPr lang="en-IN" sz="2000" spc="-1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endParaRPr lang="en-IN" sz="2000" spc="-1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endParaRPr sz="14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D9E5E-3C70-28B9-1410-E2299BF6A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71FC07-9600-98BA-D7D5-9AD0AD927EFA}"/>
              </a:ext>
            </a:extLst>
          </p:cNvPr>
          <p:cNvSpPr txBox="1"/>
          <p:nvPr/>
        </p:nvSpPr>
        <p:spPr>
          <a:xfrm>
            <a:off x="349250" y="1308101"/>
            <a:ext cx="7207250" cy="256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b="1" dirty="0">
                <a:latin typeface="Arial"/>
                <a:cs typeface="Arial"/>
              </a:rPr>
              <a:t>7.</a:t>
            </a:r>
            <a:r>
              <a:rPr lang="en-IN" sz="2400" b="1" spc="-5" dirty="0">
                <a:latin typeface="Arial"/>
                <a:cs typeface="Arial"/>
              </a:rPr>
              <a:t> </a:t>
            </a:r>
            <a:r>
              <a:rPr lang="en-IN" sz="2400" b="1" dirty="0">
                <a:latin typeface="Arial"/>
                <a:cs typeface="Arial"/>
              </a:rPr>
              <a:t>Conclusion</a:t>
            </a:r>
            <a:r>
              <a:rPr lang="en-IN" sz="2400" b="1" spc="-5" dirty="0">
                <a:latin typeface="Arial"/>
                <a:cs typeface="Arial"/>
              </a:rPr>
              <a:t> </a:t>
            </a:r>
            <a:r>
              <a:rPr lang="en-IN" sz="2400" b="1" dirty="0">
                <a:latin typeface="Arial"/>
                <a:cs typeface="Arial"/>
              </a:rPr>
              <a:t>&amp;</a:t>
            </a:r>
            <a:r>
              <a:rPr lang="en-IN" sz="2400" b="1" spc="-5" dirty="0">
                <a:latin typeface="Arial"/>
                <a:cs typeface="Arial"/>
              </a:rPr>
              <a:t> </a:t>
            </a:r>
            <a:r>
              <a:rPr lang="en-IN" sz="2400" b="1" spc="-10" dirty="0">
                <a:latin typeface="Arial"/>
                <a:cs typeface="Arial"/>
              </a:rPr>
              <a:t>Appendix</a:t>
            </a:r>
            <a:endParaRPr lang="en-IN" sz="24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555"/>
              </a:spcBef>
            </a:pPr>
            <a:r>
              <a:rPr lang="en-IN" sz="1800" dirty="0">
                <a:latin typeface="Arial MT"/>
                <a:cs typeface="Arial MT"/>
              </a:rPr>
              <a:t>Conclusion: This 10-page project</a:t>
            </a:r>
            <a:r>
              <a:rPr lang="en-IN" sz="1800" spc="5" dirty="0">
                <a:latin typeface="Arial MT"/>
                <a:cs typeface="Arial MT"/>
              </a:rPr>
              <a:t> </a:t>
            </a:r>
            <a:r>
              <a:rPr lang="en-IN" sz="1800" dirty="0">
                <a:latin typeface="Arial MT"/>
                <a:cs typeface="Arial MT"/>
              </a:rPr>
              <a:t>contains EDA results, plots,</a:t>
            </a:r>
            <a:r>
              <a:rPr lang="en-IN" sz="1800" spc="5" dirty="0">
                <a:latin typeface="Arial MT"/>
                <a:cs typeface="Arial MT"/>
              </a:rPr>
              <a:t> </a:t>
            </a:r>
            <a:r>
              <a:rPr lang="en-IN" sz="1800" dirty="0">
                <a:latin typeface="Arial MT"/>
                <a:cs typeface="Arial MT"/>
              </a:rPr>
              <a:t>code   snippets and recommendations</a:t>
            </a:r>
            <a:r>
              <a:rPr lang="en-IN" sz="1800" spc="5" dirty="0">
                <a:latin typeface="Arial MT"/>
                <a:cs typeface="Arial MT"/>
              </a:rPr>
              <a:t> </a:t>
            </a:r>
            <a:r>
              <a:rPr lang="en-IN" sz="1800" dirty="0">
                <a:latin typeface="Arial MT"/>
                <a:cs typeface="Arial MT"/>
              </a:rPr>
              <a:t>for </a:t>
            </a:r>
            <a:r>
              <a:rPr lang="en-IN" sz="1800" spc="-10" dirty="0">
                <a:latin typeface="Arial MT"/>
                <a:cs typeface="Arial MT"/>
              </a:rPr>
              <a:t>further analysis.</a:t>
            </a:r>
            <a:endParaRPr lang="en-IN"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lang="en-IN" sz="1800" dirty="0">
                <a:latin typeface="Arial MT"/>
                <a:cs typeface="Arial MT"/>
              </a:rPr>
              <a:t>Missing</a:t>
            </a:r>
            <a:r>
              <a:rPr lang="en-IN" sz="1800" spc="-10" dirty="0">
                <a:latin typeface="Arial MT"/>
                <a:cs typeface="Arial MT"/>
              </a:rPr>
              <a:t> </a:t>
            </a:r>
            <a:r>
              <a:rPr lang="en-IN" sz="1800" dirty="0">
                <a:latin typeface="Arial MT"/>
                <a:cs typeface="Arial MT"/>
              </a:rPr>
              <a:t>values</a:t>
            </a:r>
            <a:r>
              <a:rPr lang="en-IN" sz="1800" spc="-10" dirty="0">
                <a:latin typeface="Arial MT"/>
                <a:cs typeface="Arial MT"/>
              </a:rPr>
              <a:t> </a:t>
            </a:r>
            <a:r>
              <a:rPr lang="en-IN" sz="1800" dirty="0">
                <a:latin typeface="Arial MT"/>
                <a:cs typeface="Arial MT"/>
              </a:rPr>
              <a:t>summary</a:t>
            </a:r>
            <a:r>
              <a:rPr lang="en-IN" sz="1800" spc="-5" dirty="0">
                <a:latin typeface="Arial MT"/>
                <a:cs typeface="Arial MT"/>
              </a:rPr>
              <a:t> </a:t>
            </a:r>
            <a:r>
              <a:rPr lang="en-IN" sz="1800" dirty="0">
                <a:latin typeface="Arial MT"/>
                <a:cs typeface="Arial MT"/>
              </a:rPr>
              <a:t>(top</a:t>
            </a:r>
            <a:r>
              <a:rPr lang="en-IN" sz="1800" spc="-10" dirty="0">
                <a:latin typeface="Arial MT"/>
                <a:cs typeface="Arial MT"/>
              </a:rPr>
              <a:t> </a:t>
            </a:r>
            <a:r>
              <a:rPr lang="en-IN" sz="1800" dirty="0">
                <a:latin typeface="Arial MT"/>
                <a:cs typeface="Arial MT"/>
              </a:rPr>
              <a:t>columns):</a:t>
            </a:r>
            <a:r>
              <a:rPr lang="en-IN" sz="1800" spc="-10" dirty="0">
                <a:latin typeface="Arial MT"/>
                <a:cs typeface="Arial MT"/>
              </a:rPr>
              <a:t> </a:t>
            </a:r>
            <a:r>
              <a:rPr lang="en-IN" sz="1800" spc="-25" dirty="0">
                <a:latin typeface="Arial MT"/>
                <a:cs typeface="Arial MT"/>
              </a:rPr>
              <a:t>{}</a:t>
            </a:r>
          </a:p>
          <a:p>
            <a:pPr marL="12700">
              <a:lnSpc>
                <a:spcPct val="100000"/>
              </a:lnSpc>
            </a:pPr>
            <a:endParaRPr lang="en-IN" sz="1800" dirty="0">
              <a:latin typeface="Arial MT"/>
              <a:cs typeface="Arial MT"/>
            </a:endParaRPr>
          </a:p>
          <a:p>
            <a:pPr marL="12700">
              <a:lnSpc>
                <a:spcPts val="1150"/>
              </a:lnSpc>
            </a:pPr>
            <a:r>
              <a:rPr lang="en-IN" sz="1600" dirty="0">
                <a:latin typeface="Arial MT"/>
                <a:cs typeface="Arial MT"/>
              </a:rPr>
              <a:t>Appendix:</a:t>
            </a:r>
            <a:r>
              <a:rPr lang="en-IN" sz="1600" spc="5" dirty="0">
                <a:latin typeface="Arial MT"/>
                <a:cs typeface="Arial MT"/>
              </a:rPr>
              <a:t> </a:t>
            </a:r>
            <a:r>
              <a:rPr lang="en-IN" sz="1600" dirty="0">
                <a:latin typeface="Arial MT"/>
                <a:cs typeface="Arial MT"/>
              </a:rPr>
              <a:t>Sample</a:t>
            </a:r>
            <a:r>
              <a:rPr lang="en-IN" sz="1600" spc="5" dirty="0">
                <a:latin typeface="Arial MT"/>
                <a:cs typeface="Arial MT"/>
              </a:rPr>
              <a:t> </a:t>
            </a:r>
            <a:r>
              <a:rPr lang="en-IN" sz="1600" dirty="0">
                <a:latin typeface="Arial MT"/>
                <a:cs typeface="Arial MT"/>
              </a:rPr>
              <a:t>of</a:t>
            </a:r>
            <a:r>
              <a:rPr lang="en-IN" sz="1600" spc="5" dirty="0">
                <a:latin typeface="Arial MT"/>
                <a:cs typeface="Arial MT"/>
              </a:rPr>
              <a:t> </a:t>
            </a:r>
            <a:r>
              <a:rPr lang="en-IN" sz="1600" dirty="0">
                <a:latin typeface="Arial MT"/>
                <a:cs typeface="Arial MT"/>
              </a:rPr>
              <a:t>cleaned</a:t>
            </a:r>
            <a:r>
              <a:rPr lang="en-IN" sz="1600" spc="10" dirty="0">
                <a:latin typeface="Arial MT"/>
                <a:cs typeface="Arial MT"/>
              </a:rPr>
              <a:t> </a:t>
            </a:r>
            <a:r>
              <a:rPr lang="en-IN" sz="1600" dirty="0">
                <a:latin typeface="Arial MT"/>
                <a:cs typeface="Arial MT"/>
              </a:rPr>
              <a:t>data</a:t>
            </a:r>
            <a:r>
              <a:rPr lang="en-IN" sz="1600" spc="5" dirty="0">
                <a:latin typeface="Arial MT"/>
                <a:cs typeface="Arial MT"/>
              </a:rPr>
              <a:t> </a:t>
            </a:r>
            <a:r>
              <a:rPr lang="en-IN" sz="1600" dirty="0">
                <a:latin typeface="Arial MT"/>
                <a:cs typeface="Arial MT"/>
              </a:rPr>
              <a:t>and</a:t>
            </a:r>
            <a:r>
              <a:rPr lang="en-IN" sz="1600" spc="5" dirty="0">
                <a:latin typeface="Arial MT"/>
                <a:cs typeface="Arial MT"/>
              </a:rPr>
              <a:t> </a:t>
            </a:r>
            <a:r>
              <a:rPr lang="en-IN" sz="1600" dirty="0">
                <a:latin typeface="Arial MT"/>
                <a:cs typeface="Arial MT"/>
              </a:rPr>
              <a:t>column</a:t>
            </a:r>
            <a:r>
              <a:rPr lang="en-IN" sz="1600" spc="5" dirty="0">
                <a:latin typeface="Arial MT"/>
                <a:cs typeface="Arial MT"/>
              </a:rPr>
              <a:t> </a:t>
            </a:r>
            <a:r>
              <a:rPr lang="en-IN" sz="1600" spc="-10" dirty="0">
                <a:latin typeface="Arial MT"/>
                <a:cs typeface="Arial MT"/>
              </a:rPr>
              <a:t>descriptions.</a:t>
            </a:r>
          </a:p>
          <a:p>
            <a:pPr marL="12700">
              <a:lnSpc>
                <a:spcPts val="1150"/>
              </a:lnSpc>
            </a:pPr>
            <a:endParaRPr lang="en-IN" sz="1600" dirty="0">
              <a:latin typeface="Arial MT"/>
              <a:cs typeface="Arial MT"/>
            </a:endParaRPr>
          </a:p>
          <a:p>
            <a:pPr marL="12700">
              <a:lnSpc>
                <a:spcPts val="1150"/>
              </a:lnSpc>
            </a:pPr>
            <a:endParaRPr lang="en-IN" sz="1600" dirty="0">
              <a:latin typeface="Arial MT"/>
              <a:cs typeface="Arial MT"/>
            </a:endParaRPr>
          </a:p>
          <a:p>
            <a:pPr marL="12700">
              <a:lnSpc>
                <a:spcPts val="1150"/>
              </a:lnSpc>
            </a:pPr>
            <a:endParaRPr lang="en-IN" sz="1600" dirty="0">
              <a:latin typeface="Arial MT"/>
              <a:cs typeface="Arial MT"/>
            </a:endParaRPr>
          </a:p>
          <a:p>
            <a:pPr marL="12700">
              <a:lnSpc>
                <a:spcPts val="1270"/>
              </a:lnSpc>
            </a:pPr>
            <a:r>
              <a:rPr lang="en-IN" sz="1600" b="1" dirty="0">
                <a:latin typeface="Arial"/>
                <a:cs typeface="Arial"/>
              </a:rPr>
              <a:t>Sample</a:t>
            </a:r>
            <a:r>
              <a:rPr lang="en-IN" sz="1600" b="1" spc="-10" dirty="0">
                <a:latin typeface="Arial"/>
                <a:cs typeface="Arial"/>
              </a:rPr>
              <a:t> </a:t>
            </a:r>
            <a:r>
              <a:rPr lang="en-IN" sz="1600" b="1" dirty="0">
                <a:latin typeface="Arial"/>
                <a:cs typeface="Arial"/>
              </a:rPr>
              <a:t>data</a:t>
            </a:r>
            <a:r>
              <a:rPr lang="en-IN" sz="1600" b="1" spc="-10" dirty="0">
                <a:latin typeface="Arial"/>
                <a:cs typeface="Arial"/>
              </a:rPr>
              <a:t> </a:t>
            </a:r>
            <a:r>
              <a:rPr lang="en-IN" sz="1600" b="1" dirty="0">
                <a:latin typeface="Arial"/>
                <a:cs typeface="Arial"/>
              </a:rPr>
              <a:t>(first</a:t>
            </a:r>
            <a:r>
              <a:rPr lang="en-IN" sz="1600" b="1" spc="-10" dirty="0">
                <a:latin typeface="Arial"/>
                <a:cs typeface="Arial"/>
              </a:rPr>
              <a:t> </a:t>
            </a:r>
            <a:r>
              <a:rPr lang="en-IN" sz="1600" b="1" dirty="0">
                <a:latin typeface="Arial"/>
                <a:cs typeface="Arial"/>
              </a:rPr>
              <a:t>10</a:t>
            </a:r>
            <a:r>
              <a:rPr lang="en-IN" sz="1600" b="1" spc="-5" dirty="0">
                <a:latin typeface="Arial"/>
                <a:cs typeface="Arial"/>
              </a:rPr>
              <a:t> </a:t>
            </a:r>
            <a:r>
              <a:rPr lang="en-IN" sz="1600" b="1" spc="-10" dirty="0">
                <a:latin typeface="Arial"/>
                <a:cs typeface="Arial"/>
              </a:rPr>
              <a:t>rows):</a:t>
            </a:r>
            <a:endParaRPr lang="en-IN" sz="1600" dirty="0">
              <a:latin typeface="Arial"/>
              <a:cs typeface="Arial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1D75869-1285-B8A1-B9B0-A0CC4A8386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831487"/>
              </p:ext>
            </p:extLst>
          </p:nvPr>
        </p:nvGraphicFramePr>
        <p:xfrm>
          <a:off x="577851" y="4203701"/>
          <a:ext cx="6248401" cy="42671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0389">
                  <a:extLst>
                    <a:ext uri="{9D8B030D-6E8A-4147-A177-3AD203B41FA5}">
                      <a16:colId xmlns:a16="http://schemas.microsoft.com/office/drawing/2014/main" val="1413189163"/>
                    </a:ext>
                  </a:extLst>
                </a:gridCol>
                <a:gridCol w="1825937">
                  <a:extLst>
                    <a:ext uri="{9D8B030D-6E8A-4147-A177-3AD203B41FA5}">
                      <a16:colId xmlns:a16="http://schemas.microsoft.com/office/drawing/2014/main" val="2919709909"/>
                    </a:ext>
                  </a:extLst>
                </a:gridCol>
                <a:gridCol w="1986315">
                  <a:extLst>
                    <a:ext uri="{9D8B030D-6E8A-4147-A177-3AD203B41FA5}">
                      <a16:colId xmlns:a16="http://schemas.microsoft.com/office/drawing/2014/main" val="2799925064"/>
                    </a:ext>
                  </a:extLst>
                </a:gridCol>
                <a:gridCol w="1125760">
                  <a:extLst>
                    <a:ext uri="{9D8B030D-6E8A-4147-A177-3AD203B41FA5}">
                      <a16:colId xmlns:a16="http://schemas.microsoft.com/office/drawing/2014/main" val="1668565026"/>
                    </a:ext>
                  </a:extLst>
                </a:gridCol>
              </a:tblGrid>
              <a:tr h="361072">
                <a:tc>
                  <a:txBody>
                    <a:bodyPr/>
                    <a:lstStyle/>
                    <a:p>
                      <a:pPr marL="31750">
                        <a:lnSpc>
                          <a:spcPts val="994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has_name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97840">
                        <a:lnSpc>
                          <a:spcPts val="994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has_age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5465">
                        <a:lnSpc>
                          <a:spcPts val="994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has_gender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2915">
                        <a:lnSpc>
                          <a:spcPts val="994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has_city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93623043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49784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5454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4629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3014254163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49784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5454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4629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2766654206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49784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5454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4629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2959029665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49784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5454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4629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2432462813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49784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5454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4629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3185866560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49784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5454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4629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3256909274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49784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5454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4629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304326533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49784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5454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4629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2468276127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49784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5454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4629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2710677503"/>
                  </a:ext>
                </a:extLst>
              </a:tr>
              <a:tr h="361072">
                <a:tc>
                  <a:txBody>
                    <a:bodyPr/>
                    <a:lstStyle/>
                    <a:p>
                      <a:pPr marL="31750">
                        <a:lnSpc>
                          <a:spcPts val="99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497840">
                        <a:lnSpc>
                          <a:spcPts val="99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545465">
                        <a:lnSpc>
                          <a:spcPts val="99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462915">
                        <a:lnSpc>
                          <a:spcPts val="990"/>
                        </a:lnSpc>
                        <a:spcBef>
                          <a:spcPts val="1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True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37411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2262554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685</Words>
  <Application>Microsoft Office PowerPoint</Application>
  <PresentationFormat>Custom</PresentationFormat>
  <Paragraphs>190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MT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unspecified</dc:subject>
  <dc:creator>anonymous</dc:creator>
  <cp:lastModifiedBy>SHASHWAT YADAV</cp:lastModifiedBy>
  <cp:revision>2</cp:revision>
  <dcterms:created xsi:type="dcterms:W3CDTF">2025-11-09T06:20:35Z</dcterms:created>
  <dcterms:modified xsi:type="dcterms:W3CDTF">2025-11-09T06:59:54Z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2025-11-09T00:00:00Z</vt:filetime>
  </property>
  <property fmtid="{D5CDD505-2E9C-101B-9397-08002B2CF9AE}" pid="3" name="Creator">
    <vt:lpwstr>ReportLab PDF Library - www.reportlab.com</vt:lpwstr>
  </property>
  <property fmtid="{D5CDD505-2E9C-101B-9397-08002B2CF9AE}" pid="4" name="LastSaved">
    <vt:filetime>2025-11-09T00:00:00Z</vt:filetime>
  </property>
  <property fmtid="{D5CDD505-2E9C-101B-9397-08002B2CF9AE}" pid="5" name="Producer">
    <vt:lpwstr>ReportLab PDF Library - www.reportlab.com</vt:lpwstr>
  </property>
</Properties>
</file>